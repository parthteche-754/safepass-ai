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rial"/>
              </a:defRPr>
            </a:pPr>
            <a:r>
              <a:t>Innovation &amp;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B5563"/>
                </a:solidFill>
                <a:latin typeface="Arial"/>
              </a:defRPr>
            </a:pPr>
            <a:r>
              <a:t>Why existing navigation falls short — and what we built instead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2743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EA580C"/>
                </a:solidFill>
                <a:latin typeface="Arial"/>
              </a:defRPr>
            </a:pPr>
            <a:r>
              <a:t>THE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>
                <a:solidFill>
                  <a:srgbClr val="4B5563"/>
                </a:solidFill>
                <a:latin typeface="Arial"/>
              </a:rPr>
              <a:t>Mainstream apps rank routes by </a:t>
            </a:r>
            <a:r>
              <a:rPr sz="1500" b="1">
                <a:solidFill>
                  <a:srgbClr val="1F2937"/>
                </a:solidFill>
                <a:latin typeface="Arial"/>
              </a:rPr>
              <a:t>time and distance alone</a:t>
            </a:r>
            <a:r>
              <a:rPr sz="1500">
                <a:solidFill>
                  <a:srgbClr val="4B5563"/>
                </a:solidFill>
                <a:latin typeface="Arial"/>
              </a:rPr>
              <a:t> — fog, monsoon flooding, blind ghat curves and known blackspots stay invisible until you're already in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1143000"/>
            <a:ext cx="2560320" cy="7772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6400" b="1">
                <a:solidFill>
                  <a:srgbClr val="EA580C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196596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Arial"/>
              </a:defRPr>
            </a:pPr>
            <a:r>
              <a:t>India-specific risk factors most navigation apps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11094415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2286000"/>
            <a:ext cx="1645920" cy="34747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OUR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88920"/>
            <a:ext cx="39319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SafePass Maps replaces guesswork with a predictive Safety Score.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749039"/>
            <a:ext cx="39319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D1D5DB"/>
                </a:solidFill>
                <a:latin typeface="Arial"/>
              </a:defRPr>
            </a:pPr>
            <a:r>
              <a:t>Not just point A to B — built for Indian highway realities.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2734056"/>
            <a:ext cx="36576" cy="43891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66944" y="2697480"/>
            <a:ext cx="292608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Arial"/>
              </a:defRPr>
            </a:pPr>
            <a:r>
              <a:t>Predictive Scoring</a:t>
            </a:r>
          </a:p>
          <a:p>
            <a:pPr>
              <a:defRPr sz="1000">
                <a:solidFill>
                  <a:srgbClr val="D1D5DB"/>
                </a:solidFill>
                <a:latin typeface="Arial"/>
              </a:defRPr>
            </a:pPr>
            <a:r>
              <a:t>every route ranked 0–10 on real safety risk, not just ETA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734056"/>
            <a:ext cx="36576" cy="43891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2697480"/>
            <a:ext cx="292608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Arial"/>
              </a:defRPr>
            </a:pPr>
            <a:r>
              <a:t>Full Risk Fusion</a:t>
            </a:r>
          </a:p>
          <a:p>
            <a:pPr>
              <a:defRPr sz="1000">
                <a:solidFill>
                  <a:srgbClr val="D1D5DB"/>
                </a:solidFill>
                <a:latin typeface="Arial"/>
              </a:defRPr>
            </a:pPr>
            <a:r>
              <a:t>weather, accident history, road geometry &amp; time-of-day in one score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3602736"/>
            <a:ext cx="36576" cy="43891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66944" y="3566160"/>
            <a:ext cx="292608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Arial"/>
              </a:defRPr>
            </a:pPr>
            <a:r>
              <a:t>Live Hazard Network</a:t>
            </a:r>
          </a:p>
          <a:p>
            <a:pPr>
              <a:defRPr sz="1000">
                <a:solidFill>
                  <a:srgbClr val="D1D5DB"/>
                </a:solidFill>
                <a:latin typeface="Arial"/>
              </a:defRPr>
            </a:pPr>
            <a:r>
              <a:t>citizen reports, AI-classified and published in real 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3602736"/>
            <a:ext cx="36576" cy="43891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3566160"/>
            <a:ext cx="292608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Arial"/>
              </a:defRPr>
            </a:pPr>
            <a:r>
              <a:t>Built-In Emergency Response</a:t>
            </a:r>
          </a:p>
          <a:p>
            <a:pPr>
              <a:defRPr sz="1000">
                <a:solidFill>
                  <a:srgbClr val="D1D5DB"/>
                </a:solidFill>
                <a:latin typeface="Arial"/>
              </a:defRPr>
            </a:pPr>
            <a:r>
              <a:t>one-tap SOS, no separate app required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645152"/>
            <a:ext cx="36576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EA580C"/>
                </a:solidFill>
                <a:latin typeface="Arial"/>
              </a:defRPr>
            </a:pPr>
            <a:r>
              <a:t>INNOVATION WE MADE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956048"/>
            <a:ext cx="256032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600" b="1">
                <a:solidFill>
                  <a:srgbClr val="FB923C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48640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Arial"/>
              </a:defRPr>
            </a:pPr>
            <a:r>
              <a:t>Predictive, Not Reactive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833872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Arial"/>
              </a:defRPr>
            </a:pPr>
            <a:r>
              <a:t>Forecasts corridor risk before you drive, not after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4956048"/>
            <a:ext cx="256032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600" b="1">
                <a:solidFill>
                  <a:srgbClr val="FB923C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548640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Arial"/>
              </a:defRPr>
            </a:pPr>
            <a:r>
              <a:t>Explainable by Design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5833872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Arial"/>
              </a:defRPr>
            </a:pPr>
            <a:r>
              <a:t>SHAP shows exactly why a route scored the way it did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956048"/>
            <a:ext cx="256032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600" b="1">
                <a:solidFill>
                  <a:srgbClr val="FB923C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548640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Arial"/>
              </a:defRPr>
            </a:pPr>
            <a:r>
              <a:t>Citizen + AI Hybrid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5833872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Arial"/>
              </a:defRPr>
            </a:pPr>
            <a:r>
              <a:t>Real hazards, AI-classified in seconds, always current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4956048"/>
            <a:ext cx="256032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600" b="1">
                <a:solidFill>
                  <a:srgbClr val="FB923C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548640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Arial"/>
              </a:defRPr>
            </a:pPr>
            <a:r>
              <a:t>India-Calibrated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5833872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Arial"/>
              </a:defRPr>
            </a:pPr>
            <a:r>
              <a:t>Trained on the conditions global maps were never built for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B7280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