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43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FDBFE"/>
                </a:solidFill>
                <a:latin typeface="Calibri"/>
              </a:rPr>
              <a:t>What we actually built — key decisions and how data flows through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75720" y="228600"/>
            <a:ext cx="502920" cy="502920"/>
          </a:xfrm>
          <a:prstGeom prst="rect">
            <a:avLst/>
          </a:prstGeom>
          <a:solidFill>
            <a:srgbClr val="2D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228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69848"/>
            <a:ext cx="9144" cy="539496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6DB"/>
                </a:solidFill>
                <a:latin typeface="Calibri"/>
              </a:rPr>
              <a:t>What We Implemented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55064"/>
            <a:ext cx="59436" cy="5943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8191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F2937"/>
                </a:solidFill>
                <a:latin typeface="Calibri"/>
              </a:rPr>
              <a:t>2 Custom ML Models Trained from Scratch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7280"/>
                </a:solidFill>
                <a:latin typeface="Calibri"/>
              </a:rPr>
              <a:t>We did not use any pre-built model. Both models were trained on real Indian highway data — 12,000 road samples for risk scoring and 3,500 citizen reports for hazard classification.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258568"/>
            <a:ext cx="59436" cy="5943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8541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F2937"/>
                </a:solidFill>
                <a:latin typeface="Calibri"/>
              </a:rPr>
              <a:t>Corridor Risk Index (CRI) — 5-Factor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3230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7280"/>
                </a:solidFill>
                <a:latin typeface="Calibri"/>
              </a:rPr>
              <a:t>Every road segment gets a score from 0 to 10 based on: accident history (35%), weather (25%), road geometry (20%), time of day (12%), and infrastructure condition (8%).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862072"/>
            <a:ext cx="59436" cy="5943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F2937"/>
                </a:solidFill>
                <a:latin typeface="Calibri"/>
              </a:rPr>
              <a:t>Real-Time Data Fusion at Every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7280"/>
                </a:solidFill>
                <a:latin typeface="Calibri"/>
              </a:rPr>
              <a:t>Each time a route is checked, the system pulls live weather from Open-Meteo and matches the route against MoRTH blackspot coordinates — no cached or static results.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465576"/>
            <a:ext cx="59436" cy="5943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9242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F2937"/>
                </a:solidFill>
                <a:latin typeface="Calibri"/>
              </a:rPr>
              <a:t>AI Auto-Classifies Citizen Hazard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7280"/>
                </a:solidFill>
                <a:latin typeface="Calibri"/>
              </a:rPr>
              <a:t>When a user types a road hazard in plain text, the NLP model instantly detects the category (pothole, fog, accident, etc.) and suggests a severity — no manual tagging needed.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069080"/>
            <a:ext cx="59436" cy="5943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95928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F2937"/>
                </a:solidFill>
                <a:latin typeface="Calibri"/>
              </a:rPr>
              <a:t>SHAP Explainability — Every Score is Justified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4281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7280"/>
                </a:solidFill>
                <a:latin typeface="Calibri"/>
              </a:rPr>
              <a:t>The system doesn't just give a number. It tells the driver exactly why the score is high — e.g. '32% due to fog visibility' — making it transparent and trustworthy.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672584"/>
            <a:ext cx="59436" cy="5943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9943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F2937"/>
                </a:solidFill>
                <a:latin typeface="Calibri"/>
              </a:rPr>
              <a:t>Fallback Engine — Always 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4632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7280"/>
                </a:solidFill>
                <a:latin typeface="Calibri"/>
              </a:rPr>
              <a:t>If the ML model is unavailable, an analytical risk engine takes over automatically. The system never goes down or shows errors to the user.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1234440"/>
            <a:ext cx="5367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6DB"/>
                </a:solidFill>
                <a:latin typeface="Calibri"/>
              </a:rPr>
              <a:t>How It Works — Step by Step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5392" y="1581912"/>
            <a:ext cx="536752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29984" y="1824228"/>
            <a:ext cx="320040" cy="3200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9984" y="182422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7184" y="1673352"/>
            <a:ext cx="4654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F2937"/>
                </a:solidFill>
                <a:latin typeface="Calibri"/>
              </a:rPr>
              <a:t>User Searches a Route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7184" y="1947672"/>
            <a:ext cx="4654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7280"/>
                </a:solidFill>
                <a:latin typeface="Calibri"/>
              </a:rPr>
              <a:t>Opens the app, types source &amp; destination.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1996" y="2395728"/>
            <a:ext cx="274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E2E8F0"/>
                </a:solidFill>
                <a:latin typeface="Calibri"/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65392" y="2514600"/>
            <a:ext cx="536752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29984" y="2756916"/>
            <a:ext cx="320040" cy="3200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9984" y="2756916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7184" y="2606040"/>
            <a:ext cx="4654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F2937"/>
                </a:solidFill>
                <a:latin typeface="Calibri"/>
              </a:rPr>
              <a:t>Live Data is Collected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87184" y="2880360"/>
            <a:ext cx="4654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7280"/>
                </a:solidFill>
                <a:latin typeface="Calibri"/>
              </a:rPr>
              <a:t>Current weather, time of day, and nearby accident blackspots are fetched automatically.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1996" y="3328416"/>
            <a:ext cx="274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E2E8F0"/>
                </a:solidFill>
                <a:latin typeface="Calibri"/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65392" y="3447288"/>
            <a:ext cx="5367528" cy="804672"/>
          </a:xfrm>
          <a:prstGeom prst="rect">
            <a:avLst/>
          </a:prstGeom>
          <a:solidFill>
            <a:srgbClr val="EFF6FF"/>
          </a:solidFill>
          <a:ln w="228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9984" y="3689604"/>
            <a:ext cx="320040" cy="3200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9984" y="3689604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87184" y="3538728"/>
            <a:ext cx="4654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F2937"/>
                </a:solidFill>
                <a:latin typeface="Calibri"/>
              </a:rPr>
              <a:t>ML Model Scores the Route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87184" y="3813048"/>
            <a:ext cx="4654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7280"/>
                </a:solidFill>
                <a:latin typeface="Calibri"/>
              </a:rPr>
              <a:t>The CRI model analyses each road segment and assigns a risk score from 0 (safe) to 10 (critical).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11996" y="4261104"/>
            <a:ext cx="274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E2E8F0"/>
                </a:solidFill>
                <a:latin typeface="Calibri"/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65392" y="4379976"/>
            <a:ext cx="536752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729984" y="4622292"/>
            <a:ext cx="320040" cy="3200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9984" y="46222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87184" y="4471416"/>
            <a:ext cx="4654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F2937"/>
                </a:solidFill>
                <a:latin typeface="Calibri"/>
              </a:rPr>
              <a:t>Risk is Explained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87184" y="4745736"/>
            <a:ext cx="4654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7280"/>
                </a:solidFill>
                <a:latin typeface="Calibri"/>
              </a:rPr>
              <a:t>SHAP breaks down the score — e.g. fog, blackspot proximity — so the driver understands why.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11996" y="5193792"/>
            <a:ext cx="2743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E2E8F0"/>
                </a:solidFill>
                <a:latin typeface="Calibri"/>
              </a:rPr>
              <a:t>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65392" y="5312664"/>
            <a:ext cx="536752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729984" y="5554980"/>
            <a:ext cx="320040" cy="3200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29984" y="55549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7184" y="5404104"/>
            <a:ext cx="4654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1F2937"/>
                </a:solidFill>
                <a:latin typeface="Calibri"/>
              </a:rPr>
              <a:t>Map Shows the Result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87184" y="5678424"/>
            <a:ext cx="4654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B7280"/>
                </a:solidFill>
                <a:latin typeface="Calibri"/>
              </a:rPr>
              <a:t>Route turns green, orange, or red. Danger zones are marked. Citizen alerts appear in real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